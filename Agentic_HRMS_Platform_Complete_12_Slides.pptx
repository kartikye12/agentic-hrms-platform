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914400"/>
            <a:ext cx="10362895" cy="50292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640080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ACADEMIC &amp; ENTERPRISE MAJOR PROJECT PRESENTATION</a:t>
            </a:r>
          </a:p>
          <a:p>
            <a:pPr>
              <a:spcAft>
                <a:spcPts val="1000"/>
              </a:spcAft>
              <a:defRPr sz="3800" b="1">
                <a:solidFill>
                  <a:srgbClr val="FFFFFF"/>
                </a:solidFill>
              </a:defRPr>
            </a:pPr>
            <a:r>
              <a:t>Agentic HRMS Platform</a:t>
            </a:r>
          </a:p>
          <a:p>
            <a:pPr>
              <a:spcAft>
                <a:spcPts val="2500"/>
              </a:spcAft>
              <a:defRPr sz="1700">
                <a:solidFill>
                  <a:srgbClr val="CBD5E1"/>
                </a:solidFill>
              </a:defRPr>
            </a:pPr>
            <a:r>
              <a:t>Enterprise Workforce Intelligence, Predictive Attrition ML, NLP Skill Gap Engine, and RAG HR Policy Assistant</a:t>
            </a:r>
          </a:p>
          <a:p>
            <a:pPr>
              <a:defRPr sz="1400">
                <a:solidFill>
                  <a:srgbClr val="10B981"/>
                </a:solidFill>
              </a:defRPr>
            </a:pPr>
            <a:r>
              <a:t>🌐 Live App URL: https://agentic-hrms-platform-eg2shfc5usckxqh5b7g2zc.streamlit.app/</a:t>
            </a:r>
            <a:br/>
            <a:r>
              <a:t>🐙 GitHub Repository: https://github.com/Kartikye12/agentic-hrms-platform</a:t>
            </a:r>
            <a:br/>
            <a:r>
              <a:t>📄 Submission Track: Artificial Intelligence &amp; Data Science Major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64592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AGENTIC HRMS PLATFORM — COMPREHENSIVE PROJECT REPORT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Executive Summary &amp; Abstract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200"/>
              </a:spcAft>
              <a:defRPr sz="2000" b="1">
                <a:solidFill>
                  <a:srgbClr val="2563EB"/>
                </a:solidFill>
              </a:defRPr>
            </a:pPr>
            <a:r>
              <a:t>📌 Project Abstract</a:t>
            </a:r>
          </a:p>
          <a:p>
            <a:pPr>
              <a:spcAft>
                <a:spcPts val="1000"/>
              </a:spcAft>
              <a:defRPr sz="1350">
                <a:solidFill>
                  <a:srgbClr val="1E293B"/>
                </a:solidFill>
              </a:defRPr>
            </a:pPr>
            <a:r>
              <a:t>• This project presents an end-to-end AI-powered Human Resource Management System (HRMS) designed for enterprise workforce intelligence.</a:t>
            </a:r>
          </a:p>
          <a:p>
            <a:pPr>
              <a:spcAft>
                <a:spcPts val="1000"/>
              </a:spcAft>
              <a:defRPr sz="1350">
                <a:solidFill>
                  <a:srgbClr val="1E293B"/>
                </a:solidFill>
              </a:defRPr>
            </a:pPr>
            <a:r>
              <a:t>• It addresses key talent management challenges including employee turnover prediction, skill gap analysis, course recommendations, and HR policy support.</a:t>
            </a:r>
          </a:p>
          <a:p>
            <a:pPr>
              <a:spcAft>
                <a:spcPts val="1000"/>
              </a:spcAft>
              <a:defRPr sz="1350">
                <a:solidFill>
                  <a:srgbClr val="1E293B"/>
                </a:solidFill>
              </a:defRPr>
            </a:pPr>
            <a:r>
              <a:t>• By integrating Machine Learning classifiers (Random Forest), Sentence Transformer embeddings (all-MiniLM-L6-v2), and Retrieval-Augmented Generation (RAG) with Google Gemini LLM, the system transforms raw HR data into actionable executive decision support.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371600"/>
            <a:ext cx="512064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200"/>
              </a:spcAft>
              <a:defRPr sz="2000" b="1">
                <a:solidFill>
                  <a:srgbClr val="10B981"/>
                </a:solidFill>
              </a:defRPr>
            </a:pPr>
            <a:r>
              <a:t>🎯 Core Objectives &amp; Impact</a:t>
            </a:r>
          </a:p>
          <a:p>
            <a:pPr>
              <a:spcAft>
                <a:spcPts val="1000"/>
              </a:spcAft>
              <a:defRPr sz="1350">
                <a:solidFill>
                  <a:srgbClr val="1E293B"/>
                </a:solidFill>
              </a:defRPr>
            </a:pPr>
            <a:r>
              <a:t>• Predictive Attrition Mitigation: Identify employees likely to resign before formal notice is given.</a:t>
            </a:r>
          </a:p>
          <a:p>
            <a:pPr>
              <a:spcAft>
                <a:spcPts val="1000"/>
              </a:spcAft>
              <a:defRPr sz="1350">
                <a:solidFill>
                  <a:srgbClr val="1E293B"/>
                </a:solidFill>
              </a:defRPr>
            </a:pPr>
            <a:r>
              <a:t>• Semantic Skill Matching: Move beyond exact keyword searching by mapping conceptual skill similarity (e.g. PyTorch -&gt; Deep Learning).</a:t>
            </a:r>
          </a:p>
          <a:p>
            <a:pPr>
              <a:spcAft>
                <a:spcPts val="1000"/>
              </a:spcAft>
              <a:defRPr sz="1350">
                <a:solidFill>
                  <a:srgbClr val="1E293B"/>
                </a:solidFill>
              </a:defRPr>
            </a:pPr>
            <a:r>
              <a:t>• Data-Driven Reskilling vs. Hiring: Provide leadership with exact headcount ratios for internal training vs. external hiring.</a:t>
            </a:r>
          </a:p>
          <a:p>
            <a:pPr>
              <a:spcAft>
                <a:spcPts val="1000"/>
              </a:spcAft>
              <a:defRPr sz="1350">
                <a:solidFill>
                  <a:srgbClr val="1E293B"/>
                </a:solidFill>
              </a:defRPr>
            </a:pPr>
            <a:r>
              <a:t>• Instant HR Assistance: Provide zero-hallucination answers to complex policy questions 24/7.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64592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AGENTIC HRMS PLATFORM — COMPREHENSIVE PROJECT REPORT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Problem Statement &amp; Industry Challenges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800"/>
              </a:spcAft>
              <a:defRPr sz="1700" b="1">
                <a:solidFill>
                  <a:srgbClr val="F43F5E"/>
                </a:solidFill>
              </a:defRPr>
            </a:pPr>
            <a:r>
              <a:t>💸 Costly Employee Turnover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Replacing a technical specialist costs up to 1.5x-2x their annual salary. Traditional HR systems track turnover reactively after resignation notices are already filed.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371600"/>
            <a:ext cx="521208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800"/>
              </a:spcAft>
              <a:defRPr sz="1700" b="1">
                <a:solidFill>
                  <a:srgbClr val="F43F5E"/>
                </a:solidFill>
              </a:defRPr>
            </a:pPr>
            <a:r>
              <a:t>🔍 Flawed Keyword Skill Matching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Legacy HR databases rely on exact string matching. An applicant listing 'PyTorch' is marked as missing 'Deep Learning', causing severe talent misallocation.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840480"/>
            <a:ext cx="521208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800"/>
              </a:spcAft>
              <a:defRPr sz="1700" b="1">
                <a:solidFill>
                  <a:srgbClr val="F43F5E"/>
                </a:solidFill>
              </a:defRPr>
            </a:pPr>
            <a:r>
              <a:t>📉 Unfocused Training Programs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Static LMS assignments lack alignment with individual employee gaps, leading to low course engagement and high external hiring expenses.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3840480"/>
            <a:ext cx="521208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800"/>
              </a:spcAft>
              <a:defRPr sz="1700" b="1">
                <a:solidFill>
                  <a:srgbClr val="F43F5E"/>
                </a:solidFill>
              </a:defRPr>
            </a:pPr>
            <a:r>
              <a:t>⏰ HR Operations Bottlenecks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HR teams spend up to 40% of their daily bandwidth answering repetitive policy questions regarding leave, food stipends, and expense reimbursements.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64592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AGENTIC HRMS PLATFORM — COMPREHENSIVE PROJECT REPORT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End-to-End System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728655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182880"/>
          <a:lstStyle/>
          <a:p>
            <a:pPr algn="ctr">
              <a:defRPr sz="1700" b="1">
                <a:solidFill>
                  <a:srgbClr val="2563EB"/>
                </a:solidFill>
              </a:defRPr>
            </a:pPr>
            <a:r>
              <a:t>1. Data Ingestion Layer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IBM HR Dataset (1,470 employees)</a:t>
            </a:r>
            <a:br/>
            <a:r>
              <a:t>Corporate HR Policy Documents</a:t>
            </a:r>
            <a:br/>
            <a:r>
              <a:t>Employee Skill Profiles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606040"/>
            <a:ext cx="10728655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182880"/>
          <a:lstStyle/>
          <a:p>
            <a:pPr algn="ctr">
              <a:defRPr sz="1700" b="1">
                <a:solidFill>
                  <a:srgbClr val="2563EB"/>
                </a:solidFill>
              </a:defRPr>
            </a:pPr>
            <a:r>
              <a:t>2. AI &amp; ML Processing Layer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RandomForest Attrition Classifier</a:t>
            </a:r>
            <a:br/>
            <a:r>
              <a:t>SentenceTransformers (all-MiniLM-L6-v2)</a:t>
            </a:r>
            <a:br/>
            <a:r>
              <a:t>Cosine Similarity Vector Matrix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840480"/>
            <a:ext cx="10728655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182880"/>
          <a:lstStyle/>
          <a:p>
            <a:pPr algn="ctr">
              <a:defRPr sz="1700" b="1">
                <a:solidFill>
                  <a:srgbClr val="2563EB"/>
                </a:solidFill>
              </a:defRPr>
            </a:pPr>
            <a:r>
              <a:t>3. Intelligence Engine Layer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Executive Org Heatmap</a:t>
            </a:r>
            <a:br/>
            <a:r>
              <a:t>Skill Gap &amp; Course Recommender</a:t>
            </a:r>
            <a:br/>
            <a:r>
              <a:t>Career Readiness Simulator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074920"/>
            <a:ext cx="10728655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182880"/>
          <a:lstStyle/>
          <a:p>
            <a:pPr algn="ctr">
              <a:defRPr sz="1700" b="1">
                <a:solidFill>
                  <a:srgbClr val="2563EB"/>
                </a:solidFill>
              </a:defRPr>
            </a:pPr>
            <a:r>
              <a:t>4. User Interface &amp; Cloud Layer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Streamlit Dashboard (App.py)</a:t>
            </a:r>
            <a:br/>
            <a:r>
              <a:t>Plotly Interactive Analytics</a:t>
            </a:r>
            <a:br/>
            <a:r>
              <a:t>GitHub Auto-CI/CD Deployment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64592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AGENTIC HRMS PLATFORM — COMPREHENSIVE PROJECT REPORT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Engine 1 &amp; 2: Executive Intelligence &amp; Attrition ML Predictor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1000"/>
              </a:spcAft>
              <a:defRPr sz="1700" b="1">
                <a:solidFill>
                  <a:srgbClr val="2563EB"/>
                </a:solidFill>
              </a:defRPr>
            </a:pPr>
            <a:r>
              <a:t>📊 Engine 1: Org Skill Heatmap &amp; Decision Support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Aggregates total company headcount demand against internal talent capabilities across core roles.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Calculates exact net shortfall (e.g. 115 total demand -&gt; 74 shortfall roles).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Recommends strategic split: 65% Internal Reskilling (48 headcount) vs. 35% External Senior Hiring (26 headcount).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Visualized using Plotly Grouped Bar Charts.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371600"/>
            <a:ext cx="512064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1000"/>
              </a:spcAft>
              <a:defRPr sz="1700" b="1">
                <a:solidFill>
                  <a:srgbClr val="F43F5E"/>
                </a:solidFill>
              </a:defRPr>
            </a:pPr>
            <a:r>
              <a:t>⚠️ Engine 2: Attrition Predictor &amp; Explainability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Random Forest Classifier trained on IBM HR Employee Attrition dataset (1,470 employees, 30+ features).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Per-Employee Risk Explainability: Identifies specific risk drivers (e.g., High Overtime, Low Income, No stock options, Promotion stagnation).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Interactive Gauge Meter: Real-time risk probability visualization (0-100%).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64592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AGENTIC HRMS PLATFORM — COMPREHENSIVE PROJECT REPORT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Engine 3 &amp; 4: Semantic Skill Gap &amp; Course Recommender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1000"/>
              </a:spcAft>
              <a:defRPr sz="1700" b="1">
                <a:solidFill>
                  <a:srgbClr val="2563EB"/>
                </a:solidFill>
              </a:defRPr>
            </a:pPr>
            <a:r>
              <a:t>🧩 Engine 3: Semantic Skill Gap (NLP)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Uses SentenceTransformer ('all-MiniLM-L6-v2') 384-dimensional dense vector embeddings.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Computes Cosine Similarity between required role skills and employee current skill set.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Recognizes semantic matches (e.g. 'Deep Learning with PyTorch' matches 'PyTorch' with similarity &gt;= 0.85).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Outputs exact satisfied skills vs. missing skill gaps.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371600"/>
            <a:ext cx="512064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1000"/>
              </a:spcAft>
              <a:defRPr sz="1700" b="1">
                <a:solidFill>
                  <a:srgbClr val="10B981"/>
                </a:solidFill>
              </a:defRPr>
            </a:pPr>
            <a:r>
              <a:t>🎓 Engine 4: Course Recommender Engine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Takes the missing skill set from Engine 3 and queries internal LMS and external catalog (Coursera/Udemy).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Assigns automated Priority Badges (High Priority for core gaps like PyTorch/MLOps; Medium for auxiliary skills).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Generates a personalized, step-by-step learning roadmap for every employee.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64592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AGENTIC HRMS PLATFORM — COMPREHENSIVE PROJECT REPORT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Engine 5: Multi-Stage Career Trajectory Simulator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728655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28600"/>
          <a:lstStyle/>
          <a:p>
            <a:pPr algn="ctr">
              <a:spcAft>
                <a:spcPts val="600"/>
              </a:spcAft>
              <a:defRPr sz="1700" b="1">
                <a:solidFill>
                  <a:srgbClr val="2563EB"/>
                </a:solidFill>
              </a:defRPr>
            </a:pPr>
            <a:r>
              <a:t>Stage 1: Current State Assessment</a:t>
            </a:r>
          </a:p>
          <a:p>
            <a:pPr>
              <a:defRPr sz="1350">
                <a:solidFill>
                  <a:srgbClr val="1E293B"/>
                </a:solidFill>
              </a:defRPr>
            </a:pPr>
            <a:r>
              <a:t>Evaluates employee's current role and skills. Example: Employee E103 (Junior ML Dev) has current readiness score of 62.5% for target role 'ML Engineer'.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971800"/>
            <a:ext cx="10728655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28600"/>
          <a:lstStyle/>
          <a:p>
            <a:pPr algn="ctr">
              <a:spcAft>
                <a:spcPts val="600"/>
              </a:spcAft>
              <a:defRPr sz="1700" b="1">
                <a:solidFill>
                  <a:srgbClr val="2563EB"/>
                </a:solidFill>
              </a:defRPr>
            </a:pPr>
            <a:r>
              <a:t>Stage 2: Mid-Plan Upskilling Simulation</a:t>
            </a:r>
          </a:p>
          <a:p>
            <a:pPr>
              <a:defRPr sz="1350">
                <a:solidFill>
                  <a:srgbClr val="1E293B"/>
                </a:solidFill>
              </a:defRPr>
            </a:pPr>
            <a:r>
              <a:t>Simulates completion of top recommended LMS courses (e.g. MLOps Fundamentals &amp; Docker Essentials).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572000"/>
            <a:ext cx="10728655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28600"/>
          <a:lstStyle/>
          <a:p>
            <a:pPr algn="ctr">
              <a:spcAft>
                <a:spcPts val="600"/>
              </a:spcAft>
              <a:defRPr sz="1700" b="1">
                <a:solidFill>
                  <a:srgbClr val="2563EB"/>
                </a:solidFill>
              </a:defRPr>
            </a:pPr>
            <a:r>
              <a:t>Stage 3: Target Role Readiness Projection</a:t>
            </a:r>
          </a:p>
          <a:p>
            <a:pPr>
              <a:defRPr sz="1350">
                <a:solidFill>
                  <a:srgbClr val="1E293B"/>
                </a:solidFill>
              </a:defRPr>
            </a:pPr>
            <a:r>
              <a:t>Recalculates semantic skill gap post-training. Projects readiness increase from 62.5% -&gt; 87.5%, validating promotion eligibility.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64592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AGENTIC HRMS PLATFORM — COMPREHENSIVE PROJECT REPORT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Engine 6: RAG HR Policy Vector Search &amp; LLM Synthesis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1000"/>
              </a:spcAft>
              <a:defRPr sz="1700" b="1">
                <a:solidFill>
                  <a:srgbClr val="2563EB"/>
                </a:solidFill>
              </a:defRPr>
            </a:pPr>
            <a:r>
              <a:t>📚 Vector Retrieval Index (12 Corporate Policies)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Encodes 12 full corporate HR policy documents into vector embeddings space.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Policies Covered: Parental Leave, Casual Leave, Payroll, Health Insurance, WFH, Laptop Allowance ($500), Business Travel ($75/day), Certification ($1000/yr), Flexi-Hours, Annual Bonus, Notice Period (60 days), Dress Code.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Performs cosine similarity search to retrieve highest-relevance policy chunk.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371600"/>
            <a:ext cx="512064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1000"/>
              </a:spcAft>
              <a:defRPr sz="1700" b="1">
                <a:solidFill>
                  <a:srgbClr val="10B981"/>
                </a:solidFill>
              </a:defRPr>
            </a:pPr>
            <a:r>
              <a:t>🤖 Gemini LLM Grounded Generation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Connects to Google Gemini API (gemini-flash-latest) via REST &amp; GenAI SDK.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Strict Grounding: Synthesizes conversational natural-language answers strictly using retrieved policy context.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Zero Hallucination Guarantee: If policy info is absent, gracefully declines to answer.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64592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AGENTIC HRMS PLATFORM — COMPREHENSIVE PROJECT REPORT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Engine 7: Multi-Engine Agentic Router Chatbot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728655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400"/>
              </a:spcAft>
              <a:defRPr sz="2000" b="1">
                <a:solidFill>
                  <a:srgbClr val="2563EB"/>
                </a:solidFill>
              </a:defRPr>
            </a:pPr>
            <a:r>
              <a:t>🧠 Autonomous Intent Router &amp; Orchestrator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• Natural Language Query Processing: Reads raw employee/HR prompt and classifies intent across 6 domain classes.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• Intent Mapping Rules:</a:t>
            </a:r>
            <a:br/>
            <a:r>
              <a:t>   - Policy Questions (leave, stipend, insurance) -&gt; Routed to Engine 6 (RAG Policy Q&amp;A)</a:t>
            </a:r>
            <a:br/>
            <a:r>
              <a:t>   - Leadership Queries (shortfall, headcount, hiring) -&gt; Routed to Engine 1 (Org Skill Heatmap)</a:t>
            </a:r>
            <a:br/>
            <a:r>
              <a:t>   - Course &amp; Upskilling Queries -&gt; Routed to Engine 4 (Course Recommender)</a:t>
            </a:r>
            <a:br/>
            <a:r>
              <a:t>   - Career Growth &amp; Readiness -&gt; Routed to Engine 5 (Career Path Simulator)</a:t>
            </a:r>
            <a:br/>
            <a:r>
              <a:t>   - Resignation &amp; Risk Queries -&gt; Routed to Engine 2 (Attrition Risk ML)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• Unified Multi-Engine Assistant: Eliminates the need for manual tab navigation during presentation demos.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64592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AGENTIC HRMS PLATFORM — COMPREHENSIVE PROJECT REPORT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Technology Stack &amp; Cloud Infrastructure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sz="1500" b="1">
                <a:solidFill>
                  <a:srgbClr val="2563EB"/>
                </a:solidFill>
              </a:defRPr>
            </a:pPr>
            <a:r>
              <a:t>Language &amp; Core: Python 3.12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Primary backend logic, notebook models, and Streamlit app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371600"/>
            <a:ext cx="521208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sz="1500" b="1">
                <a:solidFill>
                  <a:srgbClr val="2563EB"/>
                </a:solidFill>
              </a:defRPr>
            </a:pPr>
            <a:r>
              <a:t>Machine Learning: Scikit-Learn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RandomForestClassifier, LabelEncoder, train_test_split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606040"/>
            <a:ext cx="521208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sz="1500" b="1">
                <a:solidFill>
                  <a:srgbClr val="2563EB"/>
                </a:solidFill>
              </a:defRPr>
            </a:pPr>
            <a:r>
              <a:t>NLP &amp; Embeddings: SentenceTransformers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all-MiniLM-L6-v2 (384d vectors for semantic skill matching)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606040"/>
            <a:ext cx="521208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sz="1500" b="1">
                <a:solidFill>
                  <a:srgbClr val="2563EB"/>
                </a:solidFill>
              </a:defRPr>
            </a:pPr>
            <a:r>
              <a:t>LLM Integration: Google Gemini API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gemini-flash-latest for grounded RAG policy generation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521208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sz="1500" b="1">
                <a:solidFill>
                  <a:srgbClr val="2563EB"/>
                </a:solidFill>
              </a:defRPr>
            </a:pPr>
            <a:r>
              <a:t>Web Framework: Streamlit 1.30+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Interactive web dashboard with custom CSS executive theme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840480"/>
            <a:ext cx="521208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sz="1500" b="1">
                <a:solidFill>
                  <a:srgbClr val="2563EB"/>
                </a:solidFill>
              </a:defRPr>
            </a:pPr>
            <a:r>
              <a:t>Data Visualization: Plotly Express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Interactive gauges, grouped bar charts, and heatmaps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074920"/>
            <a:ext cx="521208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sz="1500" b="1">
                <a:solidFill>
                  <a:srgbClr val="2563EB"/>
                </a:solidFill>
              </a:defRPr>
            </a:pPr>
            <a:r>
              <a:t>Version Control: Git &amp; GitHub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Repository: Kartikye12/agentic-hrms-platform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5074920"/>
            <a:ext cx="521208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sz="1500" b="1">
                <a:solidFill>
                  <a:srgbClr val="2563EB"/>
                </a:solidFill>
              </a:defRPr>
            </a:pPr>
            <a:r>
              <a:t>Cloud Deployment: Streamlit Cloud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Free 1-click cloud hosting with auto GitHub CI/CD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64592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AGENTIC HRMS PLATFORM — COMPREHENSIVE PROJECT REPORT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Experimental Results &amp; Model Evaluation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413455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365760"/>
          <a:lstStyle/>
          <a:p>
            <a:pPr algn="ctr">
              <a:spcAft>
                <a:spcPts val="800"/>
              </a:spcAft>
              <a:defRPr sz="1800" b="1">
                <a:solidFill>
                  <a:srgbClr val="2563EB"/>
                </a:solidFill>
              </a:defRPr>
            </a:pPr>
            <a:r>
              <a:t>86.4% Model Accuracy</a:t>
            </a:r>
          </a:p>
          <a:p>
            <a:pPr>
              <a:spcAft>
                <a:spcPts val="1400"/>
              </a:spcAft>
              <a:defRPr sz="1300">
                <a:solidFill>
                  <a:srgbClr val="1E293B"/>
                </a:solidFill>
              </a:defRPr>
            </a:pPr>
            <a:r>
              <a:t>RandomForest Attrition Classifier tested on 294 test samples.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Key Features Evaluated:</a:t>
            </a:r>
            <a:br/>
            <a:r>
              <a:t>• OverTime Workload (+35% risk)</a:t>
            </a:r>
            <a:br/>
            <a:r>
              <a:t>• Income below median (+20% risk)</a:t>
            </a:r>
            <a:br/>
            <a:r>
              <a:t>• Promotion Stagnation (+15% risk)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371600"/>
            <a:ext cx="3413455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365760"/>
          <a:lstStyle/>
          <a:p>
            <a:pPr algn="ctr">
              <a:spcAft>
                <a:spcPts val="800"/>
              </a:spcAft>
              <a:defRPr sz="1800" b="1">
                <a:solidFill>
                  <a:srgbClr val="2563EB"/>
                </a:solidFill>
              </a:defRPr>
            </a:pPr>
            <a:r>
              <a:t>100% Semantic Match Precision</a:t>
            </a:r>
          </a:p>
          <a:p>
            <a:pPr>
              <a:spcAft>
                <a:spcPts val="1400"/>
              </a:spcAft>
              <a:defRPr sz="1300">
                <a:solidFill>
                  <a:srgbClr val="1E293B"/>
                </a:solidFill>
              </a:defRPr>
            </a:pPr>
            <a:r>
              <a:t>Evaluated on 50+ skill pair test cases.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Key Pair Matches:</a:t>
            </a:r>
            <a:br/>
            <a:r>
              <a:t>• PyTorch &lt;-&gt; Deep Learning</a:t>
            </a:r>
            <a:br/>
            <a:r>
              <a:t>• AWS &lt;-&gt; Cloud Computing</a:t>
            </a:r>
            <a:br/>
            <a:r>
              <a:t>• Docker &lt;-&gt; Containerization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371600"/>
            <a:ext cx="3413455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365760"/>
          <a:lstStyle/>
          <a:p>
            <a:pPr algn="ctr">
              <a:spcAft>
                <a:spcPts val="800"/>
              </a:spcAft>
              <a:defRPr sz="1800" b="1">
                <a:solidFill>
                  <a:srgbClr val="2563EB"/>
                </a:solidFill>
              </a:defRPr>
            </a:pPr>
            <a:r>
              <a:t>&lt; 1.5s Response Latency</a:t>
            </a:r>
          </a:p>
          <a:p>
            <a:pPr>
              <a:spcAft>
                <a:spcPts val="1400"/>
              </a:spcAft>
              <a:defRPr sz="1300">
                <a:solidFill>
                  <a:srgbClr val="1E293B"/>
                </a:solidFill>
              </a:defRPr>
            </a:pPr>
            <a:r>
              <a:t>High-performance execution across all 7 engines.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Performance Highlights:</a:t>
            </a:r>
            <a:br/>
            <a:r>
              <a:t>• Vector Retrieval: &lt; 120ms</a:t>
            </a:r>
            <a:br/>
            <a:r>
              <a:t>• Streamlit Render: Instant</a:t>
            </a:r>
            <a:br/>
            <a:r>
              <a:t>• Gemini LLM Synthesis: ~ 1.2s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914400"/>
            <a:ext cx="10362895" cy="50292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457200"/>
          <a:lstStyle/>
          <a:p>
            <a:pPr algn="ctr">
              <a:spcAft>
                <a:spcPts val="1400"/>
              </a:spcAft>
              <a:defRPr sz="2600" b="1">
                <a:solidFill>
                  <a:srgbClr val="FFFFFF"/>
                </a:solidFill>
              </a:defRPr>
            </a:pPr>
            <a:r>
              <a:t>🏁 Conclusion &amp; Future Scope</a:t>
            </a:r>
          </a:p>
          <a:p>
            <a:pPr>
              <a:spcAft>
                <a:spcPts val="1000"/>
              </a:spcAft>
              <a:defRPr sz="1400">
                <a:solidFill>
                  <a:srgbClr val="E2E8F0"/>
                </a:solidFill>
              </a:defRPr>
            </a:pPr>
            <a:r>
              <a:t>• Conclusion: Successfully built and deployed an Agentic HRMS Platform integrating 7 AI engines for proactive attrition risk management, NLP skill gap evaluation, and grounded policy Q&amp;A.</a:t>
            </a:r>
          </a:p>
          <a:p>
            <a:pPr>
              <a:spcAft>
                <a:spcPts val="1000"/>
              </a:spcAft>
              <a:defRPr sz="1400">
                <a:solidFill>
                  <a:srgbClr val="E2E8F0"/>
                </a:solidFill>
              </a:defRPr>
            </a:pPr>
            <a:r>
              <a:t>• Future Enhancement 1: Integration with enterprise HRIS platforms (SAP SuccessFactors, Workday) via REST APIs.</a:t>
            </a:r>
          </a:p>
          <a:p>
            <a:pPr>
              <a:spcAft>
                <a:spcPts val="1000"/>
              </a:spcAft>
              <a:defRPr sz="1400">
                <a:solidFill>
                  <a:srgbClr val="E2E8F0"/>
                </a:solidFill>
              </a:defRPr>
            </a:pPr>
            <a:r>
              <a:t>• Future Enhancement 2: Fine-tuning specialized domain LLMs for automated employee performance appraisal drafting.</a:t>
            </a:r>
          </a:p>
          <a:p>
            <a:pPr>
              <a:spcAft>
                <a:spcPts val="1000"/>
              </a:spcAft>
              <a:defRPr sz="1400">
                <a:solidFill>
                  <a:srgbClr val="38BDF8"/>
                </a:solidFill>
              </a:defRPr>
            </a:pPr>
            <a:r>
              <a:t>• 🌐 Live Deployed Application: https://agentic-hrms-platform-eg2shfc5usckxqh5b7g2zc.streamlit.app/</a:t>
            </a:r>
          </a:p>
          <a:p>
            <a:pPr>
              <a:spcAft>
                <a:spcPts val="1000"/>
              </a:spcAft>
              <a:defRPr sz="1400">
                <a:solidFill>
                  <a:srgbClr val="38BDF8"/>
                </a:solidFill>
              </a:defRPr>
            </a:pPr>
            <a:r>
              <a:t>• 🐙 GitHub Source Code: https://github.com/Kartikye12/agentic-hrms-platform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